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1" y="46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9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‹№›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2334976" cy="5435824"/>
          </a:xfrm>
          <a:custGeom>
            <a:avLst/>
            <a:gdLst/>
            <a:ahLst/>
            <a:cxnLst/>
            <a:rect l="l" t="t" r="r" b="b"/>
            <a:pathLst>
              <a:path w="2334976" h="5435824">
                <a:moveTo>
                  <a:pt x="0" y="0"/>
                </a:moveTo>
                <a:lnTo>
                  <a:pt x="2334976" y="0"/>
                </a:lnTo>
                <a:lnTo>
                  <a:pt x="2334976" y="5435824"/>
                </a:lnTo>
                <a:lnTo>
                  <a:pt x="0" y="54358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000" t="-3505" r="-242460" b="-366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953024" y="4851176"/>
            <a:ext cx="2334976" cy="5435824"/>
          </a:xfrm>
          <a:custGeom>
            <a:avLst/>
            <a:gdLst/>
            <a:ahLst/>
            <a:cxnLst/>
            <a:rect l="l" t="t" r="r" b="b"/>
            <a:pathLst>
              <a:path w="2334976" h="5435824">
                <a:moveTo>
                  <a:pt x="0" y="0"/>
                </a:moveTo>
                <a:lnTo>
                  <a:pt x="2334976" y="0"/>
                </a:lnTo>
                <a:lnTo>
                  <a:pt x="2334976" y="5435824"/>
                </a:lnTo>
                <a:lnTo>
                  <a:pt x="0" y="54358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000" t="-3505" r="-242460" b="-3661"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Звіт про результати опитування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Всього анкет: 89</a:t>
            </a:r>
          </a:p>
          <a:p>
            <a:r>
              <a:t>Оброблено: 89</a:t>
            </a:r>
          </a:p>
          <a:p>
            <a:r>
              <a:t>Рядки 2–90 (усього 89 анкет)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Технічна інформація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Параметри вибірки:</a:t>
            </a:r>
          </a:p>
          <a:p>
            <a:pPr lvl="1"/>
            <a:r>
              <a:t>Загальна кількість респондентів: 89</a:t>
            </a:r>
          </a:p>
          <a:p>
            <a:pPr lvl="1"/>
            <a:r>
              <a:t>Кількість анкет у звіті: 89</a:t>
            </a:r>
          </a:p>
          <a:p>
            <a:pPr lvl="1"/>
            <a:r>
              <a:t>Діапазон обробки: Рядки 2–90 (усього 89 анкет)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Q1. Наскільки повно викладач представив зміст дисципліни на першому занятті (мету, завдання, основні теми, методи оцінювання)?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41148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"/>
                <a:gridCol w="914400"/>
              </a:tblGrid>
              <a:tr h="121920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Варіант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Кільк.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24.7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19.1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29.2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13.5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13.5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4114800" cy="29653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Q2. Як Ви оцінюєте організаційну культуру викладача (чіткість проведення занять, ефективне використання часу, структурованість подачі матеріалу)?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41148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"/>
                <a:gridCol w="914400"/>
              </a:tblGrid>
              <a:tr h="121920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Варіант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Кільк.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16.9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14.6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24.7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18.0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25.8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4114800" cy="29653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Q3. Чи мали Ви доступ до силабусу та робочої програми дисципліни на сайті університету?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41148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"/>
                <a:gridCol w="914400"/>
              </a:tblGrid>
              <a:tr h="121920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Варіант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Кільк.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10.1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34.8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10.1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7.9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37.1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4114800" cy="29653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Q4. Наскільки об’єктивними та зрозумілими для Вас були критерії оцінювання знань?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41148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"/>
                <a:gridCol w="914400"/>
              </a:tblGrid>
              <a:tr h="121920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Варіант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Кільк.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7.9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21.3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36.0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12.4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22.5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4114800" cy="29653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Q5. Наскільки чітко, доступно, логічно та зрозуміло викладач подає навчальний матеріал?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41148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"/>
                <a:gridCol w="914400"/>
              </a:tblGrid>
              <a:tr h="121920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Варіант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Кільк.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23.6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23.6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11.2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10.1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31.5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4114800" cy="296530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Q6. Оцініть, будь ласка, якість наповнення дисципліни в Moodle (наявність лекційних матеріалів, завдань, тестів тощо)?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41148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"/>
                <a:gridCol w="914400"/>
              </a:tblGrid>
              <a:tr h="121920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Варіант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Кільк.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30.3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12.4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15.7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31.5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10.1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4114800" cy="296530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Q7. Оцініть, будь ласка, наскільки викладач глибоко володіє предметом, чи має високий рівень інтелекту та широку ерудицію?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41148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"/>
                <a:gridCol w="914400"/>
              </a:tblGrid>
              <a:tr h="121920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Варіант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Кільк.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13.5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16.9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24.7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32.6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12.4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4114800" cy="29602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Q8. Наскільки викладач вміє пов’язати теоретичний матеріал із практичними завданнями?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41148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"/>
                <a:gridCol w="914400"/>
              </a:tblGrid>
              <a:tr h="121920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Варіант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Кільк.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15.7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10.1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28.1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27.0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19.1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4114800" cy="296530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Q9. Чи використовувалися на заняттях інноваційні методи навчання (дискусії, рольові ігри, робота в групах, презентації тощо)?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41148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"/>
                <a:gridCol w="914400"/>
              </a:tblGrid>
              <a:tr h="182880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Варіант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Кільк.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Важко відповісти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19.1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Ні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34.8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Так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46.1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4114800" cy="33477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Q10. Чи інформував викладач про накопичені Вами бали?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41148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"/>
                <a:gridCol w="914400"/>
              </a:tblGrid>
              <a:tr h="182880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Варіант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Кільк.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Важко відповісти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3.4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Ні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24.7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Так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71.9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4114800" cy="33477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Q11. Наскільки коректним, доброзичливим і тактовним був викладач у спілкуванні з Вами особисто?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41148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"/>
                <a:gridCol w="914400"/>
              </a:tblGrid>
              <a:tr h="146304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Варіант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Кільк.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Іноді допускав некоректні висловлювання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12.4</a:t>
                      </a:r>
                    </a:p>
                  </a:txBody>
                  <a:tcPr/>
                </a:tc>
              </a:tr>
              <a:tr h="14630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Завжди коректний і доброзичливий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57.3</a:t>
                      </a:r>
                    </a:p>
                  </a:txBody>
                  <a:tcPr/>
                </a:tc>
              </a:tr>
              <a:tr h="14630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Переважно коректний, але бували винятки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29.2</a:t>
                      </a:r>
                    </a:p>
                  </a:txBody>
                  <a:tcPr/>
                </a:tc>
              </a:tr>
              <a:tr h="14630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Часто був некоректним або непривітним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1.1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4114800" cy="360113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Q12. Як Ви оцінюєте культуру мовлення викладача, чіткість висловлення думок і темп викладу матеріалу?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41148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"/>
                <a:gridCol w="914400"/>
              </a:tblGrid>
              <a:tr h="146304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Варіант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Кільк.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Високий рівень (виразне мовлення, чіткість, оптимальний темп)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66.3</a:t>
                      </a:r>
                    </a:p>
                  </a:txBody>
                  <a:tcPr/>
                </a:tc>
              </a:tr>
              <a:tr h="14630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Достатній рівень (загалом зрозуміло, але є недоліки)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21.3</a:t>
                      </a:r>
                    </a:p>
                  </a:txBody>
                  <a:tcPr/>
                </a:tc>
              </a:tr>
              <a:tr h="14630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Незадовільний (складно сприймати інформацію)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3.4</a:t>
                      </a:r>
                    </a:p>
                  </a:txBody>
                  <a:tcPr/>
                </a:tc>
              </a:tr>
              <a:tr h="14630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Низький рівень (плутане мовлення, незрозуміла термінологія, занадто швидко/повільно)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9.0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4114800" cy="346065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Q13. Чи створював викладач комфортне навчальне середовище, у якому кожен студент міг проявити себе?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41148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"/>
                <a:gridCol w="914400"/>
              </a:tblGrid>
              <a:tr h="146304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Варіант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Кільк.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Ні, атмосфера була напруженою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3.4</a:t>
                      </a:r>
                    </a:p>
                  </a:txBody>
                  <a:tcPr/>
                </a:tc>
              </a:tr>
              <a:tr h="14630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Переважно комфортне, але були недоліки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39.3</a:t>
                      </a:r>
                    </a:p>
                  </a:txBody>
                  <a:tcPr/>
                </a:tc>
              </a:tr>
              <a:tr h="14630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Скоріше ні, ніж так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11.2</a:t>
                      </a:r>
                    </a:p>
                  </a:txBody>
                  <a:tcPr/>
                </a:tc>
              </a:tr>
              <a:tr h="14630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Так, абсолютно комфортне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46.1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4114800" cy="34499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Q14. Чи був викладач готовий надавати консультативну підтримку в позааудиторний час?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41148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"/>
                <a:gridCol w="914400"/>
              </a:tblGrid>
              <a:tr h="146304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Варіант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Кільк.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Іноді надавав консультації, але це було складно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16.9</a:t>
                      </a:r>
                    </a:p>
                  </a:txBody>
                  <a:tcPr/>
                </a:tc>
              </a:tr>
              <a:tr h="14630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Ні, отримати консультацію було неможливо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2.2</a:t>
                      </a:r>
                    </a:p>
                  </a:txBody>
                  <a:tcPr/>
                </a:tc>
              </a:tr>
              <a:tr h="14630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Переважно так, але з обмеженнями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25.8</a:t>
                      </a:r>
                    </a:p>
                  </a:txBody>
                  <a:tcPr/>
                </a:tc>
              </a:tr>
              <a:tr h="14630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Так, завжди відкритий до спілкування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55.1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4114800" cy="354464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Q15. Які засоби комунікації з викладачем найбільш ефективні для Вас особисто? (напишіть, будь ласка)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41148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"/>
                <a:gridCol w="914400"/>
              </a:tblGrid>
              <a:tr h="73152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Варіант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Кільк.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315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16.7</a:t>
                      </a:r>
                    </a:p>
                  </a:txBody>
                  <a:tcPr/>
                </a:tc>
              </a:tr>
              <a:tr h="7315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Google Meet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8.3</a:t>
                      </a:r>
                    </a:p>
                  </a:txBody>
                  <a:tcPr/>
                </a:tc>
              </a:tr>
              <a:tr h="7315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Instagram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3.6</a:t>
                      </a:r>
                    </a:p>
                  </a:txBody>
                  <a:tcPr/>
                </a:tc>
              </a:tr>
              <a:tr h="7315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Moodle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15.5</a:t>
                      </a:r>
                    </a:p>
                  </a:txBody>
                  <a:tcPr/>
                </a:tc>
              </a:tr>
              <a:tr h="7315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Telegram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28.6</a:t>
                      </a:r>
                    </a:p>
                  </a:txBody>
                  <a:tcPr/>
                </a:tc>
              </a:tr>
              <a:tr h="7315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Viber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14.3</a:t>
                      </a:r>
                    </a:p>
                  </a:txBody>
                  <a:tcPr/>
                </a:tc>
              </a:tr>
              <a:tr h="7315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WhatsApp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2.4</a:t>
                      </a:r>
                    </a:p>
                  </a:txBody>
                  <a:tcPr/>
                </a:tc>
              </a:tr>
              <a:tr h="7315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Zoom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4.8</a:t>
                      </a:r>
                    </a:p>
                  </a:txBody>
                  <a:tcPr/>
                </a:tc>
              </a:tr>
              <a:tr h="7315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Особисто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6.0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4114800" cy="33375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Q16. З якими труднощами під час вивчення цієї дисципліни ви стикались?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41148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"/>
                <a:gridCol w="914400"/>
              </a:tblGrid>
              <a:tr h="81280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Варіант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Кільк.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812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Брак часу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9.2</a:t>
                      </a:r>
                    </a:p>
                  </a:txBody>
                  <a:tcPr/>
                </a:tc>
              </a:tr>
              <a:tr h="812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Великий обсяг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14.5</a:t>
                      </a:r>
                    </a:p>
                  </a:txBody>
                  <a:tcPr/>
                </a:tc>
              </a:tr>
              <a:tr h="812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Відсутність світла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7.9</a:t>
                      </a:r>
                    </a:p>
                  </a:txBody>
                  <a:tcPr/>
                </a:tc>
              </a:tr>
              <a:tr h="812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Дедлайни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11.8</a:t>
                      </a:r>
                    </a:p>
                  </a:txBody>
                  <a:tcPr/>
                </a:tc>
              </a:tr>
              <a:tr h="812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Незрозумілі завдання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6.6</a:t>
                      </a:r>
                    </a:p>
                  </a:txBody>
                  <a:tcPr/>
                </a:tc>
              </a:tr>
              <a:tr h="812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Немає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18.4</a:t>
                      </a:r>
                    </a:p>
                  </a:txBody>
                  <a:tcPr/>
                </a:tc>
              </a:tr>
              <a:tr h="812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Складний матеріал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21.1</a:t>
                      </a:r>
                    </a:p>
                  </a:txBody>
                  <a:tcPr/>
                </a:tc>
              </a:tr>
              <a:tr h="812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Технічні проблеми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10.5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4114800" cy="33426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Q17. Чи практикували Ви списування під час виконання самостійних і контрольних робіт, на іспиті?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41148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"/>
                <a:gridCol w="914400"/>
              </a:tblGrid>
              <a:tr h="243840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Варіант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Кільк.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Ні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70.8</a:t>
                      </a:r>
                    </a:p>
                  </a:txBody>
                  <a:tcPr/>
                </a:tc>
              </a:tr>
              <a:tr h="2438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Так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29.2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4114800" cy="33477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Q18. Чи проводилися перевірки ваших письмових робіт на виявлення плагіату?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41148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"/>
                <a:gridCol w="914400"/>
              </a:tblGrid>
              <a:tr h="182880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Варіант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Кільк.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Не знаю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28.1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Ні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14.6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Так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57.3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4114800" cy="33477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Q19. Чи доводилось Вам на цій сесії «віддячувати» викладачеві за оцінку знань (грішми, подарунками чи іншими послугами)?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41148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"/>
                <a:gridCol w="914400"/>
              </a:tblGrid>
              <a:tr h="182880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Варіант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Кільк.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Не хочу відповідати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7.9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Ні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89.9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Так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2.2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4114800" cy="33477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Q20. Що найбільше сподобалося під час вивчення дисципліни?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41148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"/>
                <a:gridCol w="914400"/>
              </a:tblGrid>
              <a:tr h="66501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Варіант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Кільк.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650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Викладач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17.1</a:t>
                      </a:r>
                    </a:p>
                  </a:txBody>
                  <a:tcPr/>
                </a:tc>
              </a:tr>
              <a:tr h="6650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Все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11.8</a:t>
                      </a:r>
                    </a:p>
                  </a:txBody>
                  <a:tcPr/>
                </a:tc>
              </a:tr>
              <a:tr h="6650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Відеоматеріали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7.9</a:t>
                      </a:r>
                    </a:p>
                  </a:txBody>
                  <a:tcPr/>
                </a:tc>
              </a:tr>
              <a:tr h="6650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Гумор викладача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7.9</a:t>
                      </a:r>
                    </a:p>
                  </a:txBody>
                  <a:tcPr/>
                </a:tc>
              </a:tr>
              <a:tr h="6650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Доступність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6.6</a:t>
                      </a:r>
                    </a:p>
                  </a:txBody>
                  <a:tcPr/>
                </a:tc>
              </a:tr>
              <a:tr h="6650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Лекції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11.8</a:t>
                      </a:r>
                    </a:p>
                  </a:txBody>
                  <a:tcPr/>
                </a:tc>
              </a:tr>
              <a:tr h="6650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Нічого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7.9</a:t>
                      </a:r>
                    </a:p>
                  </a:txBody>
                  <a:tcPr/>
                </a:tc>
              </a:tr>
              <a:tr h="6650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Практичні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14.5</a:t>
                      </a:r>
                    </a:p>
                  </a:txBody>
                  <a:tcPr/>
                </a:tc>
              </a:tr>
              <a:tr h="6650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Презентації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7.9</a:t>
                      </a:r>
                    </a:p>
                  </a:txBody>
                  <a:tcPr/>
                </a:tc>
              </a:tr>
              <a:tr h="6651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Тести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6.6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4114800" cy="33375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Q21. Що найбільше не сподобалося і що Ви могли б запропонувати для покращення вивчення цієї навчальної дисципліни?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41148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"/>
                <a:gridCol w="914400"/>
              </a:tblGrid>
              <a:tr h="81280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Варіант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Кільк.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812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Багато завдань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15.0</a:t>
                      </a:r>
                    </a:p>
                  </a:txBody>
                  <a:tcPr/>
                </a:tc>
              </a:tr>
              <a:tr h="812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Все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15.0</a:t>
                      </a:r>
                    </a:p>
                  </a:txBody>
                  <a:tcPr/>
                </a:tc>
              </a:tr>
              <a:tr h="812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Забагато теорії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8.8</a:t>
                      </a:r>
                    </a:p>
                  </a:txBody>
                  <a:tcPr/>
                </a:tc>
              </a:tr>
              <a:tr h="812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Мало практики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16.2</a:t>
                      </a:r>
                    </a:p>
                  </a:txBody>
                  <a:tcPr/>
                </a:tc>
              </a:tr>
              <a:tr h="812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Нудні лекції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13.8</a:t>
                      </a:r>
                    </a:p>
                  </a:txBody>
                  <a:tcPr/>
                </a:tc>
              </a:tr>
              <a:tr h="812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Нічого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13.8</a:t>
                      </a:r>
                    </a:p>
                  </a:txBody>
                  <a:tcPr/>
                </a:tc>
              </a:tr>
              <a:tr h="812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Розклад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11.2</a:t>
                      </a:r>
                    </a:p>
                  </a:txBody>
                  <a:tcPr/>
                </a:tc>
              </a:tr>
              <a:tr h="812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Складні тести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6.2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4114800" cy="3342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Довільний</PresentationFormat>
  <Paragraphs>0</Paragraphs>
  <Slides>1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Презентація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Діана Каптар</cp:lastModifiedBy>
  <cp:revision>2</cp:revision>
  <dcterms:created xsi:type="dcterms:W3CDTF">2006-08-16T00:00:00Z</dcterms:created>
  <dcterms:modified xsi:type="dcterms:W3CDTF">2025-12-03T16:33:20Z</dcterms:modified>
  <dc:identifier>DAG6eNALo-4</dc:identifier>
</cp:coreProperties>
</file>